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57" r:id="rId6"/>
    <p:sldId id="263" r:id="rId7"/>
    <p:sldId id="264" r:id="rId8"/>
    <p:sldId id="265" r:id="rId9"/>
    <p:sldId id="260" r:id="rId10"/>
    <p:sldId id="261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8486E7-8A91-6399-B2DF-0FCD71440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D7878F-899F-36AA-CE2B-85303AEEF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CB2756-3B4C-2973-4F3A-5205DFCE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74FC65-1D40-B38E-CB26-92CEE4A9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64ADE8-6284-D6F1-F17B-1891A40C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76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F6DC74-FA32-405A-CC41-B33AA5F5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68ED82-C8C2-AE44-A080-2BBE09A9A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22186B-1189-13C1-2CB6-3BEE7ADB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82A66C-8F8A-618F-D04C-9C3DF0D9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247F35-A32D-C9EE-30A5-90CDBD2B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93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7339E-A988-32C1-3ACB-7E67710F6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F3CA67-5248-502C-201C-73E06308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A4E162-50E9-9CD8-360A-8CC7C0B0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5EBEDB-C34A-553E-B256-8792C7B9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367BAD-C5F2-0555-384B-657776C4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87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5BDD02-A518-60EC-C6AC-509C3A01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3CEA44-5755-65A9-2413-0259D03B3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EE0727-2126-AF98-B15A-F1B12D57B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265481-E57A-C98F-3F15-BF597F52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324A83-5C64-9B6F-5008-30742B840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D3FF4D-FF14-FEFD-E47A-F0C23F2B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55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0608F8-9747-92CB-DA1D-270C246D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2B34C6-96AC-C50D-8A45-9E9CACE86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5507CC-0B30-C639-2F1C-F6D3B2BC1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EC6B98-1498-3C93-7F58-E8EB331DE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7BB5190-BB2A-5EC9-320D-E8BA95E54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671FE8-97F1-2A9B-2906-A150061B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F327C67-7D70-FC79-3D49-A64873F6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B31EB4-FA83-50EA-B46E-CE1BC063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147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E3901C-57F0-D61E-01FF-D12E095F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C4C297A-CE87-C783-567A-A921D6ED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A6770F-94F3-3CC0-C8CD-58B1904C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9C6D7B-21A4-AEF6-B25C-E5B4256A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53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F48BC3C-7724-A1A9-08DB-E646D717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FB89655-92C0-0C5D-5644-5230107A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FFFCEC-E4FA-1687-BB13-C0C99562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54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3D1C6-8D24-1A1A-4BF3-55DBFD32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93E5E4-2EF2-87DA-A703-989B25C66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DFDA1A-E512-F741-DBB1-EF7220F3F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62877D-EF2A-709E-1FAE-45731ED1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A7AB56-622D-BD75-37B1-A66BE652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8E1504-43B0-7E94-02FA-0E4AE2B6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18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1C6937-9347-8642-A159-3386DDE2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F43618-125E-D1C9-2443-6A351EB7D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A869D7-C39B-EB2C-B703-01F497B94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369E27-FE40-74B2-BBE4-05FF85371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1A359C-4ED4-FD3D-8056-4B9E66B4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0A5144-05DF-DA20-3279-374EAD44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29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E1A6E-8FC0-413A-F161-C553083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87CFA9-E235-4A0D-CD6B-F5110B73A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B1C4DE-269A-34FF-EBB9-6BB1FF14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9BD821-F85E-05AB-F3EF-AAFE4D80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2D5B34-4064-F7C5-44A4-64B4030B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90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E33C00-69D6-CDF0-F1E5-10AD45BE4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CCAC3E-18E6-BAA4-BA97-FD9EEED59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DC018A-659A-59F4-FE1C-C78CA0AFB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E163B0-5684-EB08-61AF-AA847573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8EB059-9851-F8C4-8490-97294C15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82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B52093-6181-631A-0780-991F5319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FE0D85-CF01-2DB6-F055-97B41EB9F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771BA2-5CB9-9631-2CC8-919AE0F4E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4234D-4ED2-4547-BCAB-5F9B8CBD888D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7386F1-ACB3-54D0-A841-3B1171AD5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088968-B661-0DB6-1AA6-36D9D17BE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3C70-E30E-49D4-B543-FD361BEA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753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7F280-D2E7-4664-EC42-693F11AD6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部内会議</a:t>
            </a:r>
            <a:b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サプライチェーンリスクの</a:t>
            </a:r>
            <a:b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最新動向について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297FA9-C46A-7192-6AB2-E219A6A66C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2026.07.21</a:t>
            </a:r>
          </a:p>
          <a:p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（報告予定資料）</a:t>
            </a:r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016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D3B3E-6144-239B-4E67-B46E8BB0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F5BA38-4881-5D71-CC5D-7D96617D3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FDE918-1373-413E-B0EC-1CFA3B3C0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24" y="365126"/>
            <a:ext cx="10875176" cy="608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21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D3B3E-6144-239B-4E67-B46E8BB0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F5BA38-4881-5D71-CC5D-7D96617D3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endParaRPr kumimoji="1"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4B4D77E-5F63-2225-9AED-8DBC49A1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62" y="301625"/>
            <a:ext cx="10810274" cy="612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0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E3F6F82-4426-3EDF-6E1A-54BBDD63E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0" y="377825"/>
            <a:ext cx="10843359" cy="603567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974AF3B-1EEF-B9AB-D210-74CC5A546B2B}"/>
              </a:ext>
            </a:extLst>
          </p:cNvPr>
          <p:cNvSpPr/>
          <p:nvPr/>
        </p:nvSpPr>
        <p:spPr>
          <a:xfrm>
            <a:off x="1905000" y="4953000"/>
            <a:ext cx="9423400" cy="825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50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D3B3E-6144-239B-4E67-B46E8BB0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TPRM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と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SCS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の関係について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F74684-B6E2-E88E-4CB3-05DDA30A2FA5}"/>
              </a:ext>
            </a:extLst>
          </p:cNvPr>
          <p:cNvSpPr txBox="1"/>
          <p:nvPr/>
        </p:nvSpPr>
        <p:spPr>
          <a:xfrm>
            <a:off x="698500" y="61235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TPRM:Third-Party</a:t>
            </a:r>
            <a:r>
              <a:rPr lang="en-US" altLang="ja-JP" dirty="0"/>
              <a:t> Risk Management</a:t>
            </a:r>
          </a:p>
          <a:p>
            <a:r>
              <a:rPr lang="en-US" altLang="ja-JP" dirty="0" err="1"/>
              <a:t>SCS:Supply</a:t>
            </a:r>
            <a:r>
              <a:rPr lang="en-US" altLang="ja-JP" dirty="0"/>
              <a:t> Chain Security</a:t>
            </a:r>
            <a:endParaRPr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662664F-D26C-D3CD-FA3D-C4667A920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87" y="1084470"/>
            <a:ext cx="8782878" cy="4942995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5D4AA5-EE88-7437-964F-51542E6970A4}"/>
              </a:ext>
            </a:extLst>
          </p:cNvPr>
          <p:cNvSpPr/>
          <p:nvPr/>
        </p:nvSpPr>
        <p:spPr>
          <a:xfrm>
            <a:off x="6675232" y="4518990"/>
            <a:ext cx="865256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Paloma</a:t>
            </a:r>
            <a:endParaRPr kumimoji="1" lang="ja-JP" altLang="en-US" sz="1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C93B028-2475-642E-EAE3-40204160C1BF}"/>
              </a:ext>
            </a:extLst>
          </p:cNvPr>
          <p:cNvSpPr/>
          <p:nvPr/>
        </p:nvSpPr>
        <p:spPr>
          <a:xfrm>
            <a:off x="2215875" y="1649894"/>
            <a:ext cx="1189933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</a:rPr>
              <a:t>ガス会社等</a:t>
            </a:r>
          </a:p>
        </p:txBody>
      </p:sp>
    </p:spTree>
    <p:extLst>
      <p:ext uri="{BB962C8B-B14F-4D97-AF65-F5344CB8AC3E}">
        <p14:creationId xmlns:p14="http://schemas.microsoft.com/office/powerpoint/2010/main" val="244861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F1FFDB0-7615-8B32-B79D-2D7EA1D37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7" y="329324"/>
            <a:ext cx="9640645" cy="166710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638F5C-FC95-7403-88FB-955B7A107C0C}"/>
              </a:ext>
            </a:extLst>
          </p:cNvPr>
          <p:cNvSpPr txBox="1"/>
          <p:nvPr/>
        </p:nvSpPr>
        <p:spPr>
          <a:xfrm>
            <a:off x="1275677" y="2377888"/>
            <a:ext cx="52906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/>
              <a:t>重要インフラ事業者等における</a:t>
            </a:r>
            <a:r>
              <a:rPr lang="en-US" altLang="ja-JP" sz="2400" dirty="0"/>
              <a:t>SCS</a:t>
            </a:r>
            <a:r>
              <a:rPr lang="ja-JP" altLang="en-US" sz="2400" dirty="0"/>
              <a:t>評価制度の活用が検討されていることから、パロマが重要な製品供給元として★</a:t>
            </a:r>
            <a:r>
              <a:rPr lang="en-US" altLang="ja-JP" sz="2400" dirty="0"/>
              <a:t>4</a:t>
            </a:r>
            <a:r>
              <a:rPr lang="ja-JP" altLang="en-US" sz="2400" dirty="0"/>
              <a:t>または同等水準を求められる可能性があると考えます。現時点で具体的な要求は確認されていませんが、顧客要求への先行対応として★</a:t>
            </a:r>
            <a:r>
              <a:rPr lang="en-US" altLang="ja-JP" sz="2400" dirty="0"/>
              <a:t>4</a:t>
            </a:r>
            <a:r>
              <a:rPr lang="ja-JP" altLang="en-US" sz="2400" dirty="0"/>
              <a:t>取得を目標とした方がいいのではないでしょうか？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36E6C11-7A98-176D-54FC-F207A0748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447" y="1996432"/>
            <a:ext cx="5784553" cy="398029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8D39A2-E72E-141C-CDB2-66584582CA85}"/>
              </a:ext>
            </a:extLst>
          </p:cNvPr>
          <p:cNvSpPr txBox="1"/>
          <p:nvPr/>
        </p:nvSpPr>
        <p:spPr>
          <a:xfrm>
            <a:off x="6970643" y="6106335"/>
            <a:ext cx="43599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出典：重要インフラのサイバーセキュリティに係る行動計画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3760D99-E7F4-D19A-CB5D-9954024BF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887" y="5768517"/>
            <a:ext cx="474411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5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7DE6DC1-D2AE-21AB-6568-D9DF5E286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81" y="1041400"/>
            <a:ext cx="10527737" cy="5816600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758502-F13B-3F01-99F9-C5AFF69F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SCS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制度の位置づけ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20FFCA0-AC1C-1B52-692C-EA88854002CC}"/>
              </a:ext>
            </a:extLst>
          </p:cNvPr>
          <p:cNvSpPr/>
          <p:nvPr/>
        </p:nvSpPr>
        <p:spPr>
          <a:xfrm>
            <a:off x="8718990" y="2782953"/>
            <a:ext cx="1189933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</a:rPr>
              <a:t>ガス会社等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4242BF5-6E8A-48A9-E7C5-877A4ACC469E}"/>
              </a:ext>
            </a:extLst>
          </p:cNvPr>
          <p:cNvSpPr/>
          <p:nvPr/>
        </p:nvSpPr>
        <p:spPr>
          <a:xfrm>
            <a:off x="3441702" y="2584170"/>
            <a:ext cx="865256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Paloma</a:t>
            </a:r>
            <a:endParaRPr kumimoji="1" lang="ja-JP" altLang="en-US" sz="1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9369FC-C4BA-6333-D0CB-7A5173121F06}"/>
              </a:ext>
            </a:extLst>
          </p:cNvPr>
          <p:cNvSpPr txBox="1"/>
          <p:nvPr/>
        </p:nvSpPr>
        <p:spPr>
          <a:xfrm>
            <a:off x="4727163" y="6545193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出典：サプライチェーン強化に向けたセキュリティ対策評価制度 に関する制度構築方針</a:t>
            </a:r>
          </a:p>
        </p:txBody>
      </p:sp>
    </p:spTree>
    <p:extLst>
      <p:ext uri="{BB962C8B-B14F-4D97-AF65-F5344CB8AC3E}">
        <p14:creationId xmlns:p14="http://schemas.microsoft.com/office/powerpoint/2010/main" val="146168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C8758502-F13B-3F01-99F9-C5AFF69F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SCS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制度　★３★４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60CDFE1-80BF-5859-9071-0B15FB88E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96" y="1139078"/>
            <a:ext cx="9829374" cy="548026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0B8EE2-855E-B105-8263-E0EB8BD4134F}"/>
              </a:ext>
            </a:extLst>
          </p:cNvPr>
          <p:cNvSpPr txBox="1"/>
          <p:nvPr/>
        </p:nvSpPr>
        <p:spPr>
          <a:xfrm>
            <a:off x="6436693" y="658621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出典：サプライチェーン強化に向けたセキュリティ対策評価制度 に関する制度構築方針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FDC0C6-FCE5-E111-8DF6-70E3FD27FD91}"/>
              </a:ext>
            </a:extLst>
          </p:cNvPr>
          <p:cNvSpPr/>
          <p:nvPr/>
        </p:nvSpPr>
        <p:spPr>
          <a:xfrm>
            <a:off x="4854333" y="4777404"/>
            <a:ext cx="865256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Paloma</a:t>
            </a:r>
            <a:endParaRPr kumimoji="1" lang="ja-JP" altLang="en-US" sz="1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565F62-C1D6-7E3C-7847-6BD01A3352FD}"/>
              </a:ext>
            </a:extLst>
          </p:cNvPr>
          <p:cNvSpPr/>
          <p:nvPr/>
        </p:nvSpPr>
        <p:spPr>
          <a:xfrm>
            <a:off x="7924101" y="4770779"/>
            <a:ext cx="1189933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</a:rPr>
              <a:t>ガス会社等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2B92EA6-A4D0-C56A-D1DB-B79AF3AABCF2}"/>
              </a:ext>
            </a:extLst>
          </p:cNvPr>
          <p:cNvSpPr/>
          <p:nvPr/>
        </p:nvSpPr>
        <p:spPr>
          <a:xfrm>
            <a:off x="1206671" y="4777404"/>
            <a:ext cx="1547043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調達先など</a:t>
            </a:r>
            <a:endParaRPr kumimoji="1" lang="ja-JP" altLang="en-US" sz="1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23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03C4F63-98A0-8105-87A8-88615655B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21075"/>
            <a:ext cx="11404600" cy="641584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E2320B-2267-F90C-C20F-17092AAF44D3}"/>
              </a:ext>
            </a:extLst>
          </p:cNvPr>
          <p:cNvSpPr/>
          <p:nvPr/>
        </p:nvSpPr>
        <p:spPr>
          <a:xfrm>
            <a:off x="1382264" y="3230216"/>
            <a:ext cx="865256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Paloma</a:t>
            </a:r>
            <a:endParaRPr kumimoji="1" lang="ja-JP" altLang="en-US" sz="1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61CF3F3-37F5-ABDE-7C27-B1E1D26E318D}"/>
              </a:ext>
            </a:extLst>
          </p:cNvPr>
          <p:cNvSpPr/>
          <p:nvPr/>
        </p:nvSpPr>
        <p:spPr>
          <a:xfrm>
            <a:off x="7965280" y="3031433"/>
            <a:ext cx="1547043" cy="3975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調達先など</a:t>
            </a:r>
            <a:endParaRPr kumimoji="1" lang="ja-JP" altLang="en-US" sz="1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53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05A128A-E5B1-59D2-DB99-ECDF6DC3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09" y="493332"/>
            <a:ext cx="10843798" cy="6148767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BE76D4B-2299-E0D2-2C5B-4D26A31A0C80}"/>
              </a:ext>
            </a:extLst>
          </p:cNvPr>
          <p:cNvCxnSpPr/>
          <p:nvPr/>
        </p:nvCxnSpPr>
        <p:spPr>
          <a:xfrm>
            <a:off x="7023100" y="3632200"/>
            <a:ext cx="32893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D12C479-3A9D-FAE9-A39D-11F316EFC4AB}"/>
              </a:ext>
            </a:extLst>
          </p:cNvPr>
          <p:cNvCxnSpPr>
            <a:cxnSpLocks/>
          </p:cNvCxnSpPr>
          <p:nvPr/>
        </p:nvCxnSpPr>
        <p:spPr>
          <a:xfrm>
            <a:off x="6934200" y="5626100"/>
            <a:ext cx="3530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吹き出し: 円形 13">
            <a:extLst>
              <a:ext uri="{FF2B5EF4-FFF2-40B4-BE49-F238E27FC236}">
                <a16:creationId xmlns:a16="http://schemas.microsoft.com/office/drawing/2014/main" id="{FDC04F5D-D9AF-FEC2-0878-F9083F3C112E}"/>
              </a:ext>
            </a:extLst>
          </p:cNvPr>
          <p:cNvSpPr/>
          <p:nvPr/>
        </p:nvSpPr>
        <p:spPr>
          <a:xfrm>
            <a:off x="7861300" y="1708151"/>
            <a:ext cx="2603500" cy="9271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拠点＝取引先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4644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9189569-630E-BE05-5E8C-99875F02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61" y="442498"/>
            <a:ext cx="10865888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2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A8F0E9D-1B43-27EF-FF0F-E5A066E60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26" y="1052622"/>
            <a:ext cx="11340548" cy="5805378"/>
          </a:xfrm>
          <a:prstGeom prst="rect">
            <a:avLst/>
          </a:prstGeom>
        </p:spPr>
      </p:pic>
      <p:sp>
        <p:nvSpPr>
          <p:cNvPr id="5" name="タイトル 1">
            <a:extLst>
              <a:ext uri="{FF2B5EF4-FFF2-40B4-BE49-F238E27FC236}">
                <a16:creationId xmlns:a16="http://schemas.microsoft.com/office/drawing/2014/main" id="{DF0BA021-B8D4-3B23-9D99-4160A5D2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参考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】SCS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制度★４取得の要求事項</a:t>
            </a:r>
          </a:p>
        </p:txBody>
      </p:sp>
    </p:spTree>
    <p:extLst>
      <p:ext uri="{BB962C8B-B14F-4D97-AF65-F5344CB8AC3E}">
        <p14:creationId xmlns:p14="http://schemas.microsoft.com/office/powerpoint/2010/main" val="404098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190</Words>
  <Application>Microsoft Office PowerPoint</Application>
  <PresentationFormat>ワイド画面</PresentationFormat>
  <Paragraphs>23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BIZ UDゴシック</vt:lpstr>
      <vt:lpstr>游ゴシック</vt:lpstr>
      <vt:lpstr>游ゴシック Light</vt:lpstr>
      <vt:lpstr>Arial</vt:lpstr>
      <vt:lpstr>Office テーマ</vt:lpstr>
      <vt:lpstr>部内会議 サプライチェーンリスクの 最新動向について</vt:lpstr>
      <vt:lpstr>PowerPoint プレゼンテーション</vt:lpstr>
      <vt:lpstr>PowerPoint プレゼンテーション</vt:lpstr>
      <vt:lpstr>PowerPoint プレゼンテーション</vt:lpstr>
      <vt:lpstr>TPRMとSCSの関係について</vt:lpstr>
      <vt:lpstr>PowerPoint プレゼンテーション</vt:lpstr>
      <vt:lpstr>SCS制度の位置づけ</vt:lpstr>
      <vt:lpstr>SCS制度　★３★４</vt:lpstr>
      <vt:lpstr>PowerPoint プレゼンテーション</vt:lpstr>
      <vt:lpstr>PowerPoint プレゼンテーション</vt:lpstr>
      <vt:lpstr>PowerPoint プレゼンテーション</vt:lpstr>
      <vt:lpstr>【参考】SCS制度★４取得の要求事項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智康 加藤</dc:creator>
  <cp:lastModifiedBy>智康 加藤</cp:lastModifiedBy>
  <cp:revision>11</cp:revision>
  <dcterms:created xsi:type="dcterms:W3CDTF">2026-07-13T02:29:36Z</dcterms:created>
  <dcterms:modified xsi:type="dcterms:W3CDTF">2026-07-17T04:24:11Z</dcterms:modified>
</cp:coreProperties>
</file>