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2" r:id="rId3"/>
    <p:sldId id="258" r:id="rId4"/>
    <p:sldId id="259" r:id="rId5"/>
    <p:sldId id="257" r:id="rId6"/>
    <p:sldId id="263" r:id="rId7"/>
    <p:sldId id="264" r:id="rId8"/>
    <p:sldId id="265" r:id="rId9"/>
    <p:sldId id="260" r:id="rId10"/>
    <p:sldId id="261" r:id="rId11"/>
    <p:sldId id="266" r:id="rId12"/>
    <p:sldId id="267" r:id="rId13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0033" autoAdjust="0"/>
    <p:restoredTop sz="94660"/>
  </p:normalViewPr>
  <p:slideViewPr>
    <p:cSldViewPr snapToGrid="0">
      <p:cViewPr varScale="1">
        <p:scale>
          <a:sx n="72" d="100"/>
          <a:sy n="72" d="100"/>
        </p:scale>
        <p:origin x="66" y="4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98486E7-8A91-6399-B2DF-0FCD7144032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13D7878F-899F-36AA-CE2B-85303AEEFB4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8ACB2756-3B4C-2973-4F3A-5205DFCEA1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F4234D-4ED2-4547-BCAB-5F9B8CBD888D}" type="datetimeFigureOut">
              <a:rPr kumimoji="1" lang="ja-JP" altLang="en-US" smtClean="0"/>
              <a:t>2026/7/15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E374FC65-1D40-B38E-CB26-92CEE4A993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6B64ADE8-6284-D6F1-F17B-1891A40CFB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ED3C70-E30E-49D4-B543-FD361BEA800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2527681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DF6DC74-FA32-405A-CC41-B33AA5F5D9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D768ED82-C8C2-AE44-A080-2BBE09A9A51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EC22186B-1189-13C1-2CB6-3BEE7ADBEA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F4234D-4ED2-4547-BCAB-5F9B8CBD888D}" type="datetimeFigureOut">
              <a:rPr kumimoji="1" lang="ja-JP" altLang="en-US" smtClean="0"/>
              <a:t>2026/7/15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A582A66C-8F8A-618F-D04C-9C3DF0D97C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25247F35-A32D-C9EE-30A5-90CDBD2BB5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ED3C70-E30E-49D4-B543-FD361BEA800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5193147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0B7339E-A988-32C1-3ACB-7E67710F6F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23F3CA67-5248-502C-201C-73E06308165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1DA4E162-50E9-9CD8-360A-8CC7C0B057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F4234D-4ED2-4547-BCAB-5F9B8CBD888D}" type="datetimeFigureOut">
              <a:rPr kumimoji="1" lang="ja-JP" altLang="en-US" smtClean="0"/>
              <a:t>2026/7/15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175EBEDB-C34A-553E-B256-8792C7B99D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89367BAD-C5F2-0555-384B-657776C4C7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ED3C70-E30E-49D4-B543-FD361BEA800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0208753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05BDD02-A518-60EC-C6AC-509C3A015B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143CEA44-5755-65A9-2413-0259D03B323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CCEE0727-2126-AF98-B15A-F1B12D57BF7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F6265481-E57A-C98F-3F15-BF597F52C6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F4234D-4ED2-4547-BCAB-5F9B8CBD888D}" type="datetimeFigureOut">
              <a:rPr kumimoji="1" lang="ja-JP" altLang="en-US" smtClean="0"/>
              <a:t>2026/7/15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99324A83-5C64-9B6F-5008-30742B8409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E1D3FF4D-FF14-FEFD-E47A-F0C23F2B57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ED3C70-E30E-49D4-B543-FD361BEA800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7015541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20608F8-9747-92CB-DA1D-270C246DBB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672B34C6-96AC-C50D-8A45-9E9CACE86DA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A25507CC-0B30-C639-2F1C-F6D3B2BC16F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A8EC6B98-1498-3C93-7F58-E8EB331DE6A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17BB5190-BB2A-5EC9-320D-E8BA95E5411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70671FE8-97F1-2A9B-2906-A150061B2F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F4234D-4ED2-4547-BCAB-5F9B8CBD888D}" type="datetimeFigureOut">
              <a:rPr kumimoji="1" lang="ja-JP" altLang="en-US" smtClean="0"/>
              <a:t>2026/7/15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0F327C67-7D70-FC79-3D49-A64873F6DE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9FB31EB4-FA83-50EA-B46E-CE1BC06311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ED3C70-E30E-49D4-B543-FD361BEA800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221476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0E3901C-57F0-D61E-01FF-D12E095FF0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5C4C297A-CE87-C783-567A-A921D6ED85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F4234D-4ED2-4547-BCAB-5F9B8CBD888D}" type="datetimeFigureOut">
              <a:rPr kumimoji="1" lang="ja-JP" altLang="en-US" smtClean="0"/>
              <a:t>2026/7/15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CAA6770F-94F3-3CC0-C8CD-58B1904C59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B49C6D7B-21A4-AEF6-B25C-E5B4256A99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ED3C70-E30E-49D4-B543-FD361BEA800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765337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CF48BC3C-7724-A1A9-08DB-E646D7170F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F4234D-4ED2-4547-BCAB-5F9B8CBD888D}" type="datetimeFigureOut">
              <a:rPr kumimoji="1" lang="ja-JP" altLang="en-US" smtClean="0"/>
              <a:t>2026/7/15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0FB89655-92C0-0C5D-5644-5230107A46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48FFFCEC-E4FA-1687-BB13-C0C995624A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ED3C70-E30E-49D4-B543-FD361BEA800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8275400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3F3D1C6-8D24-1A1A-4BF3-55DBFD321F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DF93E5E4-2EF2-87DA-A703-989B25C666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81DFDA1A-E512-F741-DBB1-EF7220F3F18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8A62877D-EF2A-709E-1FAE-45731ED136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F4234D-4ED2-4547-BCAB-5F9B8CBD888D}" type="datetimeFigureOut">
              <a:rPr kumimoji="1" lang="ja-JP" altLang="en-US" smtClean="0"/>
              <a:t>2026/7/15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FBA7AB56-622D-BD75-37B1-A66BE65288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D88E1504-43B0-7E94-02FA-0E4AE2B6F0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ED3C70-E30E-49D4-B543-FD361BEA800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1941809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C1C6937-9347-8642-A159-3386DDE23F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B6F43618-125E-D1C9-2443-6A351EB7D25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E3A869D7-C39B-EB2C-B703-01F497B94AA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E1369E27-FE40-74B2-BBE4-05FF853717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F4234D-4ED2-4547-BCAB-5F9B8CBD888D}" type="datetimeFigureOut">
              <a:rPr kumimoji="1" lang="ja-JP" altLang="en-US" smtClean="0"/>
              <a:t>2026/7/15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E21A359C-4ED4-FD3D-8056-4B9E66B48C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B40A5144-05DF-DA20-3279-374EAD445D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ED3C70-E30E-49D4-B543-FD361BEA800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20529277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A1E1A6E-8FC0-413A-F161-C553083DFE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DB87CFA9-E235-4A0D-CD6B-F5110B73A11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91B1C4DE-269A-34FF-EBB9-6BB1FF14BD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F4234D-4ED2-4547-BCAB-5F9B8CBD888D}" type="datetimeFigureOut">
              <a:rPr kumimoji="1" lang="ja-JP" altLang="en-US" smtClean="0"/>
              <a:t>2026/7/15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A49BD821-F85E-05AB-F3EF-AAFE4D80DA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652D5B34-4064-F7C5-44A4-64B4030B14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ED3C70-E30E-49D4-B543-FD361BEA800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21990987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97E33C00-69D6-CDF0-F1E5-10AD45BE4CB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AECCAC3E-18E6-BAA4-BA97-FD9EEED5994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16DC018A-659A-59F4-FE1C-C78CA0AFB9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F4234D-4ED2-4547-BCAB-5F9B8CBD888D}" type="datetimeFigureOut">
              <a:rPr kumimoji="1" lang="ja-JP" altLang="en-US" smtClean="0"/>
              <a:t>2026/7/15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58E163B0-5684-EB08-61AF-AA847573D5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848EB059-9851-F8C4-8490-97294C15DD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ED3C70-E30E-49D4-B543-FD361BEA800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798203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06B52093-6181-631A-0780-991F5319AA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DCFE0D85-CF01-2DB6-F055-97B41EB9F6D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96771BA2-5CB9-9631-2CC8-919AE0F4EE4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2F4234D-4ED2-4547-BCAB-5F9B8CBD888D}" type="datetimeFigureOut">
              <a:rPr kumimoji="1" lang="ja-JP" altLang="en-US" smtClean="0"/>
              <a:t>2026/7/15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AB7386F1-ACB3-54D0-A841-3B1171AD5D0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FA088968-B661-0DB6-1AA6-36D9D17BED9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BED3C70-E30E-49D4-B543-FD361BEA800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875387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A37F280-D2E7-4664-EC42-693F11AD61E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kumimoji="1" lang="ja-JP" altLang="en-US" dirty="0">
                <a:latin typeface="BIZ UDゴシック" panose="020B0400000000000000" pitchFamily="49" charset="-128"/>
                <a:ea typeface="BIZ UDゴシック" panose="020B0400000000000000" pitchFamily="49" charset="-128"/>
              </a:rPr>
              <a:t>部内会議</a:t>
            </a:r>
            <a:br>
              <a:rPr kumimoji="1" lang="en-US" altLang="ja-JP" dirty="0">
                <a:latin typeface="BIZ UDゴシック" panose="020B0400000000000000" pitchFamily="49" charset="-128"/>
                <a:ea typeface="BIZ UDゴシック" panose="020B0400000000000000" pitchFamily="49" charset="-128"/>
              </a:rPr>
            </a:br>
            <a:r>
              <a:rPr kumimoji="1" lang="ja-JP" altLang="en-US" dirty="0">
                <a:latin typeface="BIZ UDゴシック" panose="020B0400000000000000" pitchFamily="49" charset="-128"/>
                <a:ea typeface="BIZ UDゴシック" panose="020B0400000000000000" pitchFamily="49" charset="-128"/>
              </a:rPr>
              <a:t>サプライチェーンリスクの</a:t>
            </a:r>
            <a:br>
              <a:rPr kumimoji="1" lang="en-US" altLang="ja-JP" dirty="0">
                <a:latin typeface="BIZ UDゴシック" panose="020B0400000000000000" pitchFamily="49" charset="-128"/>
                <a:ea typeface="BIZ UDゴシック" panose="020B0400000000000000" pitchFamily="49" charset="-128"/>
              </a:rPr>
            </a:br>
            <a:r>
              <a:rPr kumimoji="1" lang="ja-JP" altLang="en-US" dirty="0">
                <a:latin typeface="BIZ UDゴシック" panose="020B0400000000000000" pitchFamily="49" charset="-128"/>
                <a:ea typeface="BIZ UDゴシック" panose="020B0400000000000000" pitchFamily="49" charset="-128"/>
              </a:rPr>
              <a:t>最新動向について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0B297FA9-C46A-7192-6AB2-E219A6A66C0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kumimoji="1" lang="ja-JP" altLang="en-US" dirty="0">
              <a:latin typeface="BIZ UDゴシック" panose="020B0400000000000000" pitchFamily="49" charset="-128"/>
              <a:ea typeface="BIZ UDゴシック" panose="020B0400000000000000" pitchFamily="49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94016054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45D3B3E-6144-239B-4E67-B46E8BB0BB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76275"/>
          </a:xfrm>
        </p:spPr>
        <p:txBody>
          <a:bodyPr>
            <a:normAutofit fontScale="90000"/>
          </a:bodyPr>
          <a:lstStyle/>
          <a:p>
            <a:endParaRPr kumimoji="1" lang="ja-JP" altLang="en-US" dirty="0">
              <a:latin typeface="BIZ UDゴシック" panose="020B0400000000000000" pitchFamily="49" charset="-128"/>
              <a:ea typeface="BIZ UDゴシック" panose="020B0400000000000000" pitchFamily="49" charset="-128"/>
            </a:endParaRP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F9F5BA38-4881-5D71-CC5D-7D96617D3DD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19200"/>
            <a:ext cx="10515600" cy="4957763"/>
          </a:xfrm>
        </p:spPr>
        <p:txBody>
          <a:bodyPr/>
          <a:lstStyle/>
          <a:p>
            <a:endParaRPr kumimoji="1" lang="ja-JP" altLang="en-US" dirty="0">
              <a:latin typeface="BIZ UDゴシック" panose="020B0400000000000000" pitchFamily="49" charset="-128"/>
              <a:ea typeface="BIZ UDゴシック" panose="020B0400000000000000" pitchFamily="49" charset="-128"/>
            </a:endParaRPr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42FDE918-1373-413E-B0EC-1CFA3B3C077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8324" y="365126"/>
            <a:ext cx="10875176" cy="60829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732102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45D3B3E-6144-239B-4E67-B46E8BB0BB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76275"/>
          </a:xfrm>
        </p:spPr>
        <p:txBody>
          <a:bodyPr>
            <a:normAutofit fontScale="90000"/>
          </a:bodyPr>
          <a:lstStyle/>
          <a:p>
            <a:endParaRPr kumimoji="1" lang="ja-JP" altLang="en-US" dirty="0">
              <a:latin typeface="BIZ UDゴシック" panose="020B0400000000000000" pitchFamily="49" charset="-128"/>
              <a:ea typeface="BIZ UDゴシック" panose="020B0400000000000000" pitchFamily="49" charset="-128"/>
            </a:endParaRP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F9F5BA38-4881-5D71-CC5D-7D96617D3DD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19200"/>
            <a:ext cx="10515600" cy="4957763"/>
          </a:xfrm>
        </p:spPr>
        <p:txBody>
          <a:bodyPr/>
          <a:lstStyle/>
          <a:p>
            <a:endParaRPr kumimoji="1" lang="ja-JP" altLang="en-US" dirty="0">
              <a:latin typeface="BIZ UDゴシック" panose="020B0400000000000000" pitchFamily="49" charset="-128"/>
              <a:ea typeface="BIZ UDゴシック" panose="020B0400000000000000" pitchFamily="49" charset="-128"/>
            </a:endParaRPr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24B4D77E-5F63-2225-9AED-8DBC49A17E1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0862" y="301625"/>
            <a:ext cx="10810274" cy="61277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840713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図 4">
            <a:extLst>
              <a:ext uri="{FF2B5EF4-FFF2-40B4-BE49-F238E27FC236}">
                <a16:creationId xmlns:a16="http://schemas.microsoft.com/office/drawing/2014/main" id="{FE3F6F82-4426-3EDF-6E1A-54BBDD63ED0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7020" y="377825"/>
            <a:ext cx="10843359" cy="6035674"/>
          </a:xfrm>
          <a:prstGeom prst="rect">
            <a:avLst/>
          </a:prstGeom>
        </p:spPr>
      </p:pic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9974AF3B-1EEF-B9AB-D210-74CC5A546B2B}"/>
              </a:ext>
            </a:extLst>
          </p:cNvPr>
          <p:cNvSpPr/>
          <p:nvPr/>
        </p:nvSpPr>
        <p:spPr>
          <a:xfrm>
            <a:off x="1905000" y="4953000"/>
            <a:ext cx="9423400" cy="82550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7350922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45D3B3E-6144-239B-4E67-B46E8BB0BB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76275"/>
          </a:xfrm>
        </p:spPr>
        <p:txBody>
          <a:bodyPr>
            <a:normAutofit fontScale="90000"/>
          </a:bodyPr>
          <a:lstStyle/>
          <a:p>
            <a:r>
              <a:rPr kumimoji="1" lang="en-US" altLang="ja-JP" dirty="0">
                <a:latin typeface="BIZ UDゴシック" panose="020B0400000000000000" pitchFamily="49" charset="-128"/>
                <a:ea typeface="BIZ UDゴシック" panose="020B0400000000000000" pitchFamily="49" charset="-128"/>
              </a:rPr>
              <a:t>TPRM</a:t>
            </a:r>
            <a:r>
              <a:rPr kumimoji="1" lang="ja-JP" altLang="en-US" dirty="0">
                <a:latin typeface="BIZ UDゴシック" panose="020B0400000000000000" pitchFamily="49" charset="-128"/>
                <a:ea typeface="BIZ UDゴシック" panose="020B0400000000000000" pitchFamily="49" charset="-128"/>
              </a:rPr>
              <a:t>と</a:t>
            </a:r>
            <a:r>
              <a:rPr kumimoji="1" lang="en-US" altLang="ja-JP" dirty="0">
                <a:latin typeface="BIZ UDゴシック" panose="020B0400000000000000" pitchFamily="49" charset="-128"/>
                <a:ea typeface="BIZ UDゴシック" panose="020B0400000000000000" pitchFamily="49" charset="-128"/>
              </a:rPr>
              <a:t>SCS</a:t>
            </a:r>
            <a:r>
              <a:rPr kumimoji="1" lang="ja-JP" altLang="en-US" dirty="0">
                <a:latin typeface="BIZ UDゴシック" panose="020B0400000000000000" pitchFamily="49" charset="-128"/>
                <a:ea typeface="BIZ UDゴシック" panose="020B0400000000000000" pitchFamily="49" charset="-128"/>
              </a:rPr>
              <a:t>の関係について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99F74684-B6E2-E88E-4CB3-05DDA30A2FA5}"/>
              </a:ext>
            </a:extLst>
          </p:cNvPr>
          <p:cNvSpPr txBox="1"/>
          <p:nvPr/>
        </p:nvSpPr>
        <p:spPr>
          <a:xfrm>
            <a:off x="698500" y="6123543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ja-JP" dirty="0" err="1"/>
              <a:t>TPRM:Third-Party</a:t>
            </a:r>
            <a:r>
              <a:rPr lang="en-US" altLang="ja-JP" dirty="0"/>
              <a:t> Risk Management</a:t>
            </a:r>
          </a:p>
          <a:p>
            <a:r>
              <a:rPr lang="en-US" altLang="ja-JP" dirty="0" err="1"/>
              <a:t>SCS:Supply</a:t>
            </a:r>
            <a:r>
              <a:rPr lang="en-US" altLang="ja-JP" dirty="0"/>
              <a:t> Chain Security</a:t>
            </a:r>
            <a:endParaRPr lang="ja-JP" altLang="en-US" dirty="0"/>
          </a:p>
        </p:txBody>
      </p:sp>
      <p:pic>
        <p:nvPicPr>
          <p:cNvPr id="13" name="図 12">
            <a:extLst>
              <a:ext uri="{FF2B5EF4-FFF2-40B4-BE49-F238E27FC236}">
                <a16:creationId xmlns:a16="http://schemas.microsoft.com/office/drawing/2014/main" id="{4662664F-D26C-D3CD-FA3D-C4667A920C8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73087" y="1084470"/>
            <a:ext cx="8782878" cy="4942995"/>
          </a:xfrm>
          <a:prstGeom prst="rect">
            <a:avLst/>
          </a:prstGeom>
        </p:spPr>
      </p:pic>
      <p:sp>
        <p:nvSpPr>
          <p:cNvPr id="14" name="正方形/長方形 13">
            <a:extLst>
              <a:ext uri="{FF2B5EF4-FFF2-40B4-BE49-F238E27FC236}">
                <a16:creationId xmlns:a16="http://schemas.microsoft.com/office/drawing/2014/main" id="{485D4AA5-EE88-7437-964F-51542E6970A4}"/>
              </a:ext>
            </a:extLst>
          </p:cNvPr>
          <p:cNvSpPr/>
          <p:nvPr/>
        </p:nvSpPr>
        <p:spPr>
          <a:xfrm>
            <a:off x="6675232" y="4518990"/>
            <a:ext cx="865256" cy="397566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400" dirty="0">
                <a:ln>
                  <a:solidFill>
                    <a:sysClr val="windowText" lastClr="000000"/>
                  </a:solidFill>
                </a:ln>
                <a:solidFill>
                  <a:schemeClr val="bg1"/>
                </a:solidFill>
              </a:rPr>
              <a:t>Paloma</a:t>
            </a:r>
            <a:endParaRPr kumimoji="1" lang="ja-JP" altLang="en-US" sz="1400" dirty="0">
              <a:ln>
                <a:solidFill>
                  <a:sysClr val="windowText" lastClr="000000"/>
                </a:solidFill>
              </a:ln>
              <a:solidFill>
                <a:schemeClr val="bg1"/>
              </a:solidFill>
            </a:endParaRPr>
          </a:p>
        </p:txBody>
      </p:sp>
      <p:sp>
        <p:nvSpPr>
          <p:cNvPr id="15" name="正方形/長方形 14">
            <a:extLst>
              <a:ext uri="{FF2B5EF4-FFF2-40B4-BE49-F238E27FC236}">
                <a16:creationId xmlns:a16="http://schemas.microsoft.com/office/drawing/2014/main" id="{5C93B028-2475-642E-EAE3-40204160C1BF}"/>
              </a:ext>
            </a:extLst>
          </p:cNvPr>
          <p:cNvSpPr/>
          <p:nvPr/>
        </p:nvSpPr>
        <p:spPr>
          <a:xfrm>
            <a:off x="2215875" y="1649894"/>
            <a:ext cx="1189933" cy="397566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00" dirty="0">
                <a:ln>
                  <a:solidFill>
                    <a:sysClr val="windowText" lastClr="000000"/>
                  </a:solidFill>
                </a:ln>
                <a:solidFill>
                  <a:srgbClr val="FFFF00"/>
                </a:solidFill>
              </a:rPr>
              <a:t>ガス会社等</a:t>
            </a:r>
          </a:p>
        </p:txBody>
      </p:sp>
    </p:spTree>
    <p:extLst>
      <p:ext uri="{BB962C8B-B14F-4D97-AF65-F5344CB8AC3E}">
        <p14:creationId xmlns:p14="http://schemas.microsoft.com/office/powerpoint/2010/main" val="244861931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図 2">
            <a:extLst>
              <a:ext uri="{FF2B5EF4-FFF2-40B4-BE49-F238E27FC236}">
                <a16:creationId xmlns:a16="http://schemas.microsoft.com/office/drawing/2014/main" id="{8F1FFDB0-7615-8B32-B79D-2D7EA1D3782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75677" y="329324"/>
            <a:ext cx="9640645" cy="1667108"/>
          </a:xfrm>
          <a:prstGeom prst="rect">
            <a:avLst/>
          </a:prstGeom>
        </p:spPr>
      </p:pic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C0638F5C-FC95-7403-88FB-955B7A107C0C}"/>
              </a:ext>
            </a:extLst>
          </p:cNvPr>
          <p:cNvSpPr txBox="1"/>
          <p:nvPr/>
        </p:nvSpPr>
        <p:spPr>
          <a:xfrm>
            <a:off x="1928191" y="2547876"/>
            <a:ext cx="8044070" cy="35394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sz="3200" dirty="0"/>
              <a:t>重要インフラ事業者等における</a:t>
            </a:r>
            <a:r>
              <a:rPr lang="en-US" altLang="ja-JP" sz="3200" dirty="0"/>
              <a:t>SCS</a:t>
            </a:r>
            <a:r>
              <a:rPr lang="ja-JP" altLang="en-US" sz="3200" dirty="0"/>
              <a:t>評価制度の活用が検討されていることから、パロマが重要な製品供給元として★</a:t>
            </a:r>
            <a:r>
              <a:rPr lang="en-US" altLang="ja-JP" sz="3200" dirty="0"/>
              <a:t>4</a:t>
            </a:r>
            <a:r>
              <a:rPr lang="ja-JP" altLang="en-US" sz="3200" dirty="0"/>
              <a:t>または同等水準を求められる可能性がある。現時点で具体的な要求は確認されていないが、顧客要求への先行対応として★</a:t>
            </a:r>
            <a:r>
              <a:rPr lang="en-US" altLang="ja-JP" sz="3200" dirty="0"/>
              <a:t>4</a:t>
            </a:r>
            <a:r>
              <a:rPr lang="ja-JP" altLang="en-US" sz="3200" dirty="0"/>
              <a:t>取得を目標とした方がいいのでは？</a:t>
            </a:r>
          </a:p>
        </p:txBody>
      </p:sp>
    </p:spTree>
    <p:extLst>
      <p:ext uri="{BB962C8B-B14F-4D97-AF65-F5344CB8AC3E}">
        <p14:creationId xmlns:p14="http://schemas.microsoft.com/office/powerpoint/2010/main" val="397005684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図 3">
            <a:extLst>
              <a:ext uri="{FF2B5EF4-FFF2-40B4-BE49-F238E27FC236}">
                <a16:creationId xmlns:a16="http://schemas.microsoft.com/office/drawing/2014/main" id="{47DE6DC1-D2AE-21AB-6568-D9DF5E2861A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6681" y="1041400"/>
            <a:ext cx="10527737" cy="5816600"/>
          </a:xfrm>
          <a:prstGeom prst="rect">
            <a:avLst/>
          </a:prstGeom>
        </p:spPr>
      </p:pic>
      <p:sp>
        <p:nvSpPr>
          <p:cNvPr id="6" name="タイトル 1">
            <a:extLst>
              <a:ext uri="{FF2B5EF4-FFF2-40B4-BE49-F238E27FC236}">
                <a16:creationId xmlns:a16="http://schemas.microsoft.com/office/drawing/2014/main" id="{C8758502-F13B-3F01-99F9-C5AFF69F92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76275"/>
          </a:xfrm>
        </p:spPr>
        <p:txBody>
          <a:bodyPr>
            <a:normAutofit fontScale="90000"/>
          </a:bodyPr>
          <a:lstStyle/>
          <a:p>
            <a:r>
              <a:rPr kumimoji="1" lang="en-US" altLang="ja-JP" dirty="0">
                <a:latin typeface="BIZ UDゴシック" panose="020B0400000000000000" pitchFamily="49" charset="-128"/>
                <a:ea typeface="BIZ UDゴシック" panose="020B0400000000000000" pitchFamily="49" charset="-128"/>
              </a:rPr>
              <a:t>SCS</a:t>
            </a:r>
            <a:r>
              <a:rPr kumimoji="1" lang="ja-JP" altLang="en-US" dirty="0">
                <a:latin typeface="BIZ UDゴシック" panose="020B0400000000000000" pitchFamily="49" charset="-128"/>
                <a:ea typeface="BIZ UDゴシック" panose="020B0400000000000000" pitchFamily="49" charset="-128"/>
              </a:rPr>
              <a:t>制度の位置づけ</a:t>
            </a:r>
          </a:p>
        </p:txBody>
      </p:sp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420FFCA0-AC1C-1B52-692C-EA88854002CC}"/>
              </a:ext>
            </a:extLst>
          </p:cNvPr>
          <p:cNvSpPr/>
          <p:nvPr/>
        </p:nvSpPr>
        <p:spPr>
          <a:xfrm>
            <a:off x="3686867" y="2577546"/>
            <a:ext cx="1189933" cy="397566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00" dirty="0">
                <a:ln>
                  <a:solidFill>
                    <a:sysClr val="windowText" lastClr="000000"/>
                  </a:solidFill>
                </a:ln>
                <a:solidFill>
                  <a:srgbClr val="FFFF00"/>
                </a:solidFill>
              </a:rPr>
              <a:t>ガス会社等</a:t>
            </a:r>
          </a:p>
        </p:txBody>
      </p:sp>
      <p:sp>
        <p:nvSpPr>
          <p:cNvPr id="8" name="正方形/長方形 7">
            <a:extLst>
              <a:ext uri="{FF2B5EF4-FFF2-40B4-BE49-F238E27FC236}">
                <a16:creationId xmlns:a16="http://schemas.microsoft.com/office/drawing/2014/main" id="{84242BF5-6E8A-48A9-E7C5-877A4ACC469E}"/>
              </a:ext>
            </a:extLst>
          </p:cNvPr>
          <p:cNvSpPr/>
          <p:nvPr/>
        </p:nvSpPr>
        <p:spPr>
          <a:xfrm>
            <a:off x="8530536" y="2776329"/>
            <a:ext cx="865256" cy="397566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400" dirty="0">
                <a:ln>
                  <a:solidFill>
                    <a:sysClr val="windowText" lastClr="000000"/>
                  </a:solidFill>
                </a:ln>
                <a:solidFill>
                  <a:schemeClr val="bg1"/>
                </a:solidFill>
              </a:rPr>
              <a:t>Paloma</a:t>
            </a:r>
            <a:endParaRPr kumimoji="1" lang="ja-JP" altLang="en-US" sz="1400" dirty="0">
              <a:ln>
                <a:solidFill>
                  <a:sysClr val="windowText" lastClr="000000"/>
                </a:solidFill>
              </a:ln>
              <a:solidFill>
                <a:schemeClr val="bg1"/>
              </a:solidFill>
            </a:endParaRPr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CE9369FC-C4BA-6333-D0CB-7A5173121F06}"/>
              </a:ext>
            </a:extLst>
          </p:cNvPr>
          <p:cNvSpPr txBox="1"/>
          <p:nvPr/>
        </p:nvSpPr>
        <p:spPr>
          <a:xfrm>
            <a:off x="4727163" y="6545193"/>
            <a:ext cx="609600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sz="1100" dirty="0"/>
              <a:t>出典：サプライチェーン強化に向けたセキュリティ対策評価制度 に関する制度構築方針</a:t>
            </a:r>
          </a:p>
        </p:txBody>
      </p:sp>
    </p:spTree>
    <p:extLst>
      <p:ext uri="{BB962C8B-B14F-4D97-AF65-F5344CB8AC3E}">
        <p14:creationId xmlns:p14="http://schemas.microsoft.com/office/powerpoint/2010/main" val="146168746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タイトル 1">
            <a:extLst>
              <a:ext uri="{FF2B5EF4-FFF2-40B4-BE49-F238E27FC236}">
                <a16:creationId xmlns:a16="http://schemas.microsoft.com/office/drawing/2014/main" id="{C8758502-F13B-3F01-99F9-C5AFF69F92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76275"/>
          </a:xfrm>
        </p:spPr>
        <p:txBody>
          <a:bodyPr>
            <a:normAutofit fontScale="90000"/>
          </a:bodyPr>
          <a:lstStyle/>
          <a:p>
            <a:r>
              <a:rPr kumimoji="1" lang="en-US" altLang="ja-JP" dirty="0">
                <a:latin typeface="BIZ UDゴシック" panose="020B0400000000000000" pitchFamily="49" charset="-128"/>
                <a:ea typeface="BIZ UDゴシック" panose="020B0400000000000000" pitchFamily="49" charset="-128"/>
              </a:rPr>
              <a:t>SCS</a:t>
            </a:r>
            <a:r>
              <a:rPr kumimoji="1" lang="ja-JP" altLang="en-US" dirty="0">
                <a:latin typeface="BIZ UDゴシック" panose="020B0400000000000000" pitchFamily="49" charset="-128"/>
                <a:ea typeface="BIZ UDゴシック" panose="020B0400000000000000" pitchFamily="49" charset="-128"/>
              </a:rPr>
              <a:t>制度★４取得には</a:t>
            </a:r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E60CDFE1-80BF-5859-9071-0B15FB88EFE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3096" y="1139078"/>
            <a:ext cx="9829374" cy="5480266"/>
          </a:xfrm>
          <a:prstGeom prst="rect">
            <a:avLst/>
          </a:prstGeom>
        </p:spPr>
      </p:pic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D90B8EE2-855E-B105-8263-E0EB8BD4134F}"/>
              </a:ext>
            </a:extLst>
          </p:cNvPr>
          <p:cNvSpPr txBox="1"/>
          <p:nvPr/>
        </p:nvSpPr>
        <p:spPr>
          <a:xfrm>
            <a:off x="6436693" y="6586217"/>
            <a:ext cx="609600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sz="1100" dirty="0"/>
              <a:t>出典：サプライチェーン強化に向けたセキュリティ対策評価制度 に関する制度構築方針</a:t>
            </a:r>
          </a:p>
        </p:txBody>
      </p:sp>
    </p:spTree>
    <p:extLst>
      <p:ext uri="{BB962C8B-B14F-4D97-AF65-F5344CB8AC3E}">
        <p14:creationId xmlns:p14="http://schemas.microsoft.com/office/powerpoint/2010/main" val="152223322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図 4">
            <a:extLst>
              <a:ext uri="{FF2B5EF4-FFF2-40B4-BE49-F238E27FC236}">
                <a16:creationId xmlns:a16="http://schemas.microsoft.com/office/drawing/2014/main" id="{203C4F63-98A0-8105-87A8-88615655BF7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8300" y="221075"/>
            <a:ext cx="11404600" cy="64158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553602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図 6">
            <a:extLst>
              <a:ext uri="{FF2B5EF4-FFF2-40B4-BE49-F238E27FC236}">
                <a16:creationId xmlns:a16="http://schemas.microsoft.com/office/drawing/2014/main" id="{D05A128A-E5B1-59D2-DB99-ECDF6DC3F9A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2609" y="493332"/>
            <a:ext cx="10843798" cy="6148767"/>
          </a:xfrm>
          <a:prstGeom prst="rect">
            <a:avLst/>
          </a:prstGeom>
        </p:spPr>
      </p:pic>
      <p:cxnSp>
        <p:nvCxnSpPr>
          <p:cNvPr id="11" name="直線コネクタ 10">
            <a:extLst>
              <a:ext uri="{FF2B5EF4-FFF2-40B4-BE49-F238E27FC236}">
                <a16:creationId xmlns:a16="http://schemas.microsoft.com/office/drawing/2014/main" id="{CBE76D4B-2299-E0D2-2C5B-4D26A31A0C80}"/>
              </a:ext>
            </a:extLst>
          </p:cNvPr>
          <p:cNvCxnSpPr/>
          <p:nvPr/>
        </p:nvCxnSpPr>
        <p:spPr>
          <a:xfrm>
            <a:off x="7023100" y="3632200"/>
            <a:ext cx="3289300" cy="0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線コネクタ 11">
            <a:extLst>
              <a:ext uri="{FF2B5EF4-FFF2-40B4-BE49-F238E27FC236}">
                <a16:creationId xmlns:a16="http://schemas.microsoft.com/office/drawing/2014/main" id="{7D12C479-3A9D-FAE9-A39D-11F316EFC4AB}"/>
              </a:ext>
            </a:extLst>
          </p:cNvPr>
          <p:cNvCxnSpPr>
            <a:cxnSpLocks/>
          </p:cNvCxnSpPr>
          <p:nvPr/>
        </p:nvCxnSpPr>
        <p:spPr>
          <a:xfrm>
            <a:off x="6934200" y="5626100"/>
            <a:ext cx="3530600" cy="0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吹き出し: 円形 13">
            <a:extLst>
              <a:ext uri="{FF2B5EF4-FFF2-40B4-BE49-F238E27FC236}">
                <a16:creationId xmlns:a16="http://schemas.microsoft.com/office/drawing/2014/main" id="{FDC04F5D-D9AF-FEC2-0878-F9083F3C112E}"/>
              </a:ext>
            </a:extLst>
          </p:cNvPr>
          <p:cNvSpPr/>
          <p:nvPr/>
        </p:nvSpPr>
        <p:spPr>
          <a:xfrm>
            <a:off x="7861300" y="1708151"/>
            <a:ext cx="2603500" cy="927100"/>
          </a:xfrm>
          <a:prstGeom prst="wedgeEllipseCallou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dirty="0"/>
              <a:t>取引先＝拠点だと思います。</a:t>
            </a:r>
          </a:p>
        </p:txBody>
      </p:sp>
    </p:spTree>
    <p:extLst>
      <p:ext uri="{BB962C8B-B14F-4D97-AF65-F5344CB8AC3E}">
        <p14:creationId xmlns:p14="http://schemas.microsoft.com/office/powerpoint/2010/main" val="11464410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図 2">
            <a:extLst>
              <a:ext uri="{FF2B5EF4-FFF2-40B4-BE49-F238E27FC236}">
                <a16:creationId xmlns:a16="http://schemas.microsoft.com/office/drawing/2014/main" id="{89189569-630E-BE05-5E8C-99875F0257E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6661" y="442498"/>
            <a:ext cx="10865888" cy="61769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072377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図 3">
            <a:extLst>
              <a:ext uri="{FF2B5EF4-FFF2-40B4-BE49-F238E27FC236}">
                <a16:creationId xmlns:a16="http://schemas.microsoft.com/office/drawing/2014/main" id="{EA8F0E9D-1B43-27EF-FF0F-E5A066E6021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5726" y="1052622"/>
            <a:ext cx="11340548" cy="5805378"/>
          </a:xfrm>
          <a:prstGeom prst="rect">
            <a:avLst/>
          </a:prstGeom>
        </p:spPr>
      </p:pic>
      <p:sp>
        <p:nvSpPr>
          <p:cNvPr id="5" name="タイトル 1">
            <a:extLst>
              <a:ext uri="{FF2B5EF4-FFF2-40B4-BE49-F238E27FC236}">
                <a16:creationId xmlns:a16="http://schemas.microsoft.com/office/drawing/2014/main" id="{DF0BA021-B8D4-3B23-9D99-4160A5D289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76275"/>
          </a:xfrm>
        </p:spPr>
        <p:txBody>
          <a:bodyPr>
            <a:normAutofit fontScale="90000"/>
          </a:bodyPr>
          <a:lstStyle/>
          <a:p>
            <a:r>
              <a:rPr kumimoji="1" lang="en-US" altLang="ja-JP" dirty="0">
                <a:latin typeface="BIZ UDゴシック" panose="020B0400000000000000" pitchFamily="49" charset="-128"/>
                <a:ea typeface="BIZ UDゴシック" panose="020B0400000000000000" pitchFamily="49" charset="-128"/>
              </a:rPr>
              <a:t>SCS</a:t>
            </a:r>
            <a:r>
              <a:rPr kumimoji="1" lang="ja-JP" altLang="en-US" dirty="0">
                <a:latin typeface="BIZ UDゴシック" panose="020B0400000000000000" pitchFamily="49" charset="-128"/>
                <a:ea typeface="BIZ UDゴシック" panose="020B0400000000000000" pitchFamily="49" charset="-128"/>
              </a:rPr>
              <a:t>制度★４取得の要求事項</a:t>
            </a:r>
          </a:p>
        </p:txBody>
      </p:sp>
    </p:spTree>
    <p:extLst>
      <p:ext uri="{BB962C8B-B14F-4D97-AF65-F5344CB8AC3E}">
        <p14:creationId xmlns:p14="http://schemas.microsoft.com/office/powerpoint/2010/main" val="404098009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328</TotalTime>
  <Words>162</Words>
  <Application>Microsoft Office PowerPoint</Application>
  <PresentationFormat>ワイド画面</PresentationFormat>
  <Paragraphs>15</Paragraphs>
  <Slides>12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4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12</vt:i4>
      </vt:variant>
    </vt:vector>
  </HeadingPairs>
  <TitlesOfParts>
    <vt:vector size="17" baseType="lpstr">
      <vt:lpstr>BIZ UDゴシック</vt:lpstr>
      <vt:lpstr>游ゴシック</vt:lpstr>
      <vt:lpstr>游ゴシック Light</vt:lpstr>
      <vt:lpstr>Arial</vt:lpstr>
      <vt:lpstr>Office テーマ</vt:lpstr>
      <vt:lpstr>部内会議 サプライチェーンリスクの 最新動向について</vt:lpstr>
      <vt:lpstr>PowerPoint プレゼンテーション</vt:lpstr>
      <vt:lpstr>PowerPoint プレゼンテーション</vt:lpstr>
      <vt:lpstr>PowerPoint プレゼンテーション</vt:lpstr>
      <vt:lpstr>TPRMとSCSの関係について</vt:lpstr>
      <vt:lpstr>PowerPoint プレゼンテーション</vt:lpstr>
      <vt:lpstr>SCS制度の位置づけ</vt:lpstr>
      <vt:lpstr>SCS制度★４取得には</vt:lpstr>
      <vt:lpstr>PowerPoint プレゼンテーション</vt:lpstr>
      <vt:lpstr>PowerPoint プレゼンテーション</vt:lpstr>
      <vt:lpstr>PowerPoint プレゼンテーション</vt:lpstr>
      <vt:lpstr>SCS制度★４取得の要求事項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智康 加藤</dc:creator>
  <cp:lastModifiedBy>智康 加藤</cp:lastModifiedBy>
  <cp:revision>7</cp:revision>
  <dcterms:created xsi:type="dcterms:W3CDTF">2026-07-13T02:29:36Z</dcterms:created>
  <dcterms:modified xsi:type="dcterms:W3CDTF">2026-07-15T07:40:28Z</dcterms:modified>
</cp:coreProperties>
</file>